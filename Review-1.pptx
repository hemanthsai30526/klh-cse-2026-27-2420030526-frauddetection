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73" r:id="rId5"/>
    <p:sldId id="258" r:id="rId6"/>
    <p:sldId id="261" r:id="rId7"/>
    <p:sldId id="265" r:id="rId8"/>
    <p:sldId id="260" r:id="rId9"/>
    <p:sldId id="272" r:id="rId10"/>
    <p:sldId id="274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61"/>
            <p14:sldId id="265"/>
            <p14:sldId id="260"/>
            <p14:sldId id="272"/>
            <p14:sldId id="274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9509760" y="1325880"/>
            <a:ext cx="502920" cy="50292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10561320" y="2148840"/>
            <a:ext cx="502920" cy="502920"/>
          </a:xfrm>
          <a:prstGeom prst="ellipse">
            <a:avLst/>
          </a:prstGeom>
          <a:solidFill>
            <a:srgbClr val="1E5C91"/>
          </a:solidFill>
          <a:ln w="10160"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8823960" y="2514600"/>
            <a:ext cx="502920" cy="502920"/>
          </a:xfrm>
          <a:prstGeom prst="ellipse">
            <a:avLst/>
          </a:prstGeom>
          <a:solidFill>
            <a:srgbClr val="CA9D41"/>
          </a:solidFill>
          <a:ln w="10160"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8" name="Oval 7"/>
          <p:cNvSpPr/>
          <p:nvPr/>
        </p:nvSpPr>
        <p:spPr>
          <a:xfrm>
            <a:off x="10012680" y="3337560"/>
            <a:ext cx="502920" cy="502920"/>
          </a:xfrm>
          <a:prstGeom prst="ellipse">
            <a:avLst/>
          </a:prstGeom>
          <a:solidFill>
            <a:srgbClr val="4FAEBA"/>
          </a:solidFill>
          <a:ln w="10160"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10972800" y="3794760"/>
            <a:ext cx="502920" cy="502920"/>
          </a:xfrm>
          <a:prstGeom prst="ellipse">
            <a:avLst/>
          </a:prstGeom>
          <a:solidFill>
            <a:srgbClr val="B83535"/>
          </a:solidFill>
          <a:ln w="10160">
            <a:solidFill>
              <a:srgbClr val="B8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12680" y="1828800"/>
            <a:ext cx="548640" cy="548640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070848" y="1828800"/>
            <a:ext cx="941832" cy="932688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70848" y="2761488"/>
            <a:ext cx="1170432" cy="822960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241280" y="2606040"/>
            <a:ext cx="566928" cy="978408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41280" y="3584448"/>
            <a:ext cx="960120" cy="457200"/>
          </a:xfrm>
          <a:prstGeom prst="line">
            <a:avLst/>
          </a:prstGeom>
          <a:ln w="20320">
            <a:solidFill>
              <a:srgbClr val="5C8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1325880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FAEBA"/>
                </a:solidFill>
                <a:latin typeface="Aptos"/>
              </a:defRPr>
            </a:pPr>
            <a:r>
              <a:t>ENGINEERING CAPSTONE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783080"/>
            <a:ext cx="7040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rPr sz="2900"/>
              <a:t>Graph Neural Network</a:t>
            </a:r>
            <a:r>
              <a:t/>
            </a:r>
            <a:br/>
            <a:r>
              <a:rPr sz="2900"/>
              <a:t>Framework for Financial Transaction Fraud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6858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D2DCE4"/>
                </a:solidFill>
                <a:latin typeface="Aptos"/>
              </a:defRPr>
            </a:pPr>
            <a:r>
              <a:t>A relationship-aware, explainable approach to detecting hidden fraud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51960"/>
            <a:ext cx="2788920" cy="438912"/>
          </a:xfrm>
          <a:prstGeom prst="round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2514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GNN • PROPOSED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6217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DCE4EA"/>
                </a:solidFill>
                <a:latin typeface="Aptos"/>
              </a:defRPr>
            </a:pPr>
            <a:r>
              <a:t>Team 20</a:t>
            </a:r>
            <a:br/>
            <a:r>
              <a:t>P. Amarnath • K. Vishnu • M. Hemanth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53328"/>
            <a:ext cx="4389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8B8C4"/>
                </a:solidFill>
                <a:latin typeface="Aptos"/>
              </a:defRPr>
            </a:pPr>
            <a:r>
              <a:t>Koneru Lakshmaiah University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14" name="Oval 13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" y="1234440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392" y="1426464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1389888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1682496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Why existing fraud detectors struggle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34440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82512" y="1426464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389888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682496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What the proposed work will achieve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404872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392" y="2596896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2560320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2852928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12 related research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404872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82512" y="2596896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2560320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Research Gaps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2852928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Limitations synthesized into gaps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75304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0392" y="3767328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0472" y="3730752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Innovation &amp; Novelty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0472" y="4023360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What is improved / introduced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575304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82512" y="3767328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3730752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4023360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Why the project is implementable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745736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50392" y="4937759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0472" y="4901183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Project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0472" y="5193792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Execution phases and milestones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745736"/>
            <a:ext cx="5074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382512" y="4937759"/>
            <a:ext cx="493776" cy="493776"/>
          </a:xfrm>
          <a:prstGeom prst="ellipse">
            <a:avLst/>
          </a:prstGeom>
          <a:solidFill>
            <a:srgbClr val="E8F1F8"/>
          </a:solidFill>
          <a:ln w="10160"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901183"/>
            <a:ext cx="3886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5193792"/>
            <a:ext cx="3931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End-to-end TEA-GNN workflow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234440"/>
            <a:ext cx="6492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  <a:latin typeface="Aptos"/>
              </a:defRPr>
            </a:pPr>
            <a:r>
              <a:t>Fraud is a network problem — not just a transaction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57400"/>
            <a:ext cx="5897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8717A"/>
                </a:solidFill>
                <a:latin typeface="Aptos"/>
              </a:defRPr>
            </a:pPr>
            <a:r>
              <a:rPr sz="1200"/>
              <a:t>Traditional rule-based and transaction-level ML systems can miss coordinated behavior because they inspect records independently. This makes hidden fraud rings, shared devices and unusual relationship patterns difficult to capture.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234440"/>
            <a:ext cx="4114800" cy="4389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150876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857E"/>
                </a:solidFill>
                <a:latin typeface="Aptos"/>
              </a:defRPr>
            </a:pPr>
            <a:r>
              <a:t>CONNECTED FRAUD PATTERN</a:t>
            </a:r>
          </a:p>
        </p:txBody>
      </p:sp>
      <p:sp>
        <p:nvSpPr>
          <p:cNvPr id="16" name="Oval 15"/>
          <p:cNvSpPr/>
          <p:nvPr/>
        </p:nvSpPr>
        <p:spPr>
          <a:xfrm>
            <a:off x="8887968" y="2057400"/>
            <a:ext cx="713232" cy="713232"/>
          </a:xfrm>
          <a:prstGeom prst="ellipse">
            <a:avLst/>
          </a:prstGeom>
          <a:solidFill>
            <a:srgbClr val="1E5C91"/>
          </a:solidFill>
          <a:ln w="10160"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7909560" y="3063240"/>
            <a:ext cx="713232" cy="71323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9829800" y="3063240"/>
            <a:ext cx="713232" cy="713232"/>
          </a:xfrm>
          <a:prstGeom prst="ellipse">
            <a:avLst/>
          </a:prstGeom>
          <a:solidFill>
            <a:srgbClr val="CA9D41"/>
          </a:solidFill>
          <a:ln w="10160"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9" name="Oval 18"/>
          <p:cNvSpPr/>
          <p:nvPr/>
        </p:nvSpPr>
        <p:spPr>
          <a:xfrm>
            <a:off x="8887968" y="4160520"/>
            <a:ext cx="713232" cy="713232"/>
          </a:xfrm>
          <a:prstGeom prst="ellipse">
            <a:avLst/>
          </a:prstGeom>
          <a:solidFill>
            <a:srgbClr val="4FAEBA"/>
          </a:solidFill>
          <a:ln w="10160"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4160520"/>
            <a:ext cx="713232" cy="713232"/>
          </a:xfrm>
          <a:prstGeom prst="ellipse">
            <a:avLst/>
          </a:prstGeom>
          <a:solidFill>
            <a:srgbClr val="B83535"/>
          </a:solidFill>
          <a:ln w="10160">
            <a:solidFill>
              <a:srgbClr val="B8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458200" y="2697480"/>
            <a:ext cx="777240" cy="54864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235440" y="2697480"/>
            <a:ext cx="822960" cy="54864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58200" y="3776472"/>
            <a:ext cx="777240" cy="384048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235440" y="3776472"/>
            <a:ext cx="914400" cy="384048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582912" y="4507992"/>
            <a:ext cx="612648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26679" y="507492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11F36"/>
                </a:solidFill>
                <a:latin typeface="Aptos"/>
              </a:defRPr>
            </a:pPr>
            <a:r>
              <a:t>GNN learns relationships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154680"/>
            <a:ext cx="19202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349300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83535"/>
                </a:solidFill>
                <a:latin typeface="Aptos"/>
              </a:defRPr>
            </a:pPr>
            <a:r>
              <a:t>ISOLATED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7490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17A"/>
                </a:solidFill>
                <a:latin typeface="Aptos"/>
              </a:defRPr>
            </a:pPr>
            <a:r>
              <a:t>One transaction at a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9504" y="3154680"/>
            <a:ext cx="19202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26664" y="349300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857E"/>
                </a:solidFill>
                <a:latin typeface="Aptos"/>
              </a:defRPr>
            </a:pPr>
            <a:r>
              <a:t>RELATIONAL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26664" y="37490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17A"/>
                </a:solidFill>
                <a:latin typeface="Aptos"/>
              </a:defRPr>
            </a:pPr>
            <a:r>
              <a:t>Entities + interactions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65776" y="3154680"/>
            <a:ext cx="19202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02936" y="349300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E5C91"/>
                </a:solidFill>
                <a:latin typeface="Aptos"/>
              </a:defRPr>
            </a:pPr>
            <a:r>
              <a:t>INTELLIGENT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2936" y="37490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17A"/>
                </a:solidFill>
                <a:latin typeface="Aptos"/>
              </a:defRPr>
            </a:pPr>
            <a:r>
              <a:t>Risk + explanation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8" y="-1"/>
            <a:ext cx="1088138" cy="46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170432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11F36"/>
                </a:solidFill>
                <a:latin typeface="Aptos"/>
              </a:defRPr>
            </a:pPr>
            <a:r>
              <a:t>Each objective answers a research need.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1691640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82496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Build a heterogeneous financial transaction graph.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130552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2496312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87168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Learn temporal, behavioral and relational patterns.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2935224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3300984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9184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Reduce class-imbalance bias and false positives.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739896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4105656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96512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Produce explainable fraud risk scores.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544568"/>
            <a:ext cx="22860" cy="347472"/>
          </a:xfrm>
          <a:prstGeom prst="rect">
            <a:avLst/>
          </a:prstGeom>
          <a:solidFill>
            <a:srgbClr val="D3DBE1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520" y="4910328"/>
            <a:ext cx="438912" cy="438912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01184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62F39"/>
                </a:solidFill>
                <a:latin typeface="Aptos"/>
              </a:defRPr>
            </a:pPr>
            <a:r>
              <a:t>Compare against ML and GNN baselines.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1234440"/>
            <a:ext cx="2926080" cy="4251960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59952" y="155448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FAEBA"/>
                </a:solidFill>
                <a:latin typeface="Aptos"/>
              </a:defRPr>
            </a:pPr>
            <a:r>
              <a:t>PROPOSED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2245519"/>
            <a:ext cx="24688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rPr dirty="0"/>
              <a:t>GNN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06324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DAE6ED"/>
                </a:solidFill>
                <a:latin typeface="Aptos"/>
              </a:defRPr>
            </a:pPr>
            <a:r>
              <a:t>Temporal</a:t>
            </a:r>
            <a:br/>
            <a:r>
              <a:t>+</a:t>
            </a:r>
            <a:br/>
            <a:r>
              <a:t>Explainable</a:t>
            </a:r>
            <a:br/>
            <a:r>
              <a:t>+</a:t>
            </a:r>
            <a:br/>
            <a:r>
              <a:t>Adaptive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70916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FAEBA"/>
                </a:solidFill>
                <a:latin typeface="Aptos"/>
              </a:defRPr>
            </a:pPr>
            <a:r>
              <a:t>Research-driven enhancement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LITERATURE SURVEY — I</a:t>
            </a:r>
          </a:p>
        </p:txBody>
      </p:sp>
      <p:sp>
        <p:nvSpPr>
          <p:cNvPr id="12" name="Oval 11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17A"/>
                </a:solidFill>
                <a:latin typeface="Aptos"/>
              </a:defRPr>
            </a:pPr>
            <a:r>
              <a:t>12-paper review: model → outcome → limitation →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36192"/>
            <a:ext cx="29718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600200"/>
            <a:ext cx="2880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39" y="1536192"/>
            <a:ext cx="13258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59" y="1600200"/>
            <a:ext cx="123443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536192"/>
            <a:ext cx="233172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600200"/>
            <a:ext cx="22402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KEY OUTCOME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1536192"/>
            <a:ext cx="31546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199" y="1600200"/>
            <a:ext cx="3063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69880" y="1536192"/>
            <a:ext cx="16002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0" y="1600200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938528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784" y="1993392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Alleviating the Inconsistency Problem of Applying Graph Neural Network to Fraud Detection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39" y="1938528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75303" y="1993392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GraphConsis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1938528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46903" y="1993392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Filters context-, feature-, and relation-inconsistent neighbors; improves fraud-node representation.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79" y="1938528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24344" y="199339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Static graph setting; temporal evolution, real-time deployment, and explanation are not central.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1938528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24744" y="1993392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596896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7784" y="2651760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Enhancing Graph Neural Network-based Fraud Detectors against Camouflaged Fraudsters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39" y="2596896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75303" y="2651760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CARE-GNN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2596896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46903" y="2651760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Uses label-aware similarity, RL-based neighbor selection, and relation-aware aggregation to resist camouflage.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79" y="2596896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24344" y="2651760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RL-based neighbor selection adds complexity; temporal modeling and explicit XAI are not core components.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69880" y="2596896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24744" y="2651760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255264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" y="3310128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Pick and Choose: A GNN-based Imbalanced Learning Approach for Fraud Detection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39" y="3255264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75303" y="3310128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PC-GNN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3255264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46903" y="3310128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Label-balanced node/edge sampling improves learning under severe class imbalance.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79" y="3255264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24344" y="3310128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Sampling can trade off graph information for balance; mainly supervised and not designed for temporal drift.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69880" y="3255264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24744" y="3310128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913632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57784" y="3968496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Rethinking Graph Neural Networks for Anomaly Detection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39" y="3913632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75303" y="3968496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BWGNN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92040" y="3913632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46903" y="3968496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Beta Wavelet GNN captures high-frequency anomaly signals and improves graph anomaly detection.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69479" y="3913632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24344" y="3968496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Spectral filtering is computationally involved and can be less adaptable to newly inserted nodes/dynamic graphs.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469880" y="3913632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24744" y="3968496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T-Finance; T-Social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572000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7784" y="4626864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Energy Transformer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20439" y="4572000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575303" y="4626864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Energy Transformer (ET)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92040" y="4572000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46903" y="4626864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Energy-based attention gives strong anomaly-detection results across four graph datasets.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9479" y="4572000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324344" y="4626864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Evaluation uses homogeneous graphs and 1-hop attention; financial-specific interpretability and temporal behavior remain limited.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469880" y="4572000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24744" y="4626864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T-Finance; T-Social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5230368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7784" y="5285231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Financial transaction fraud detector based on imbalance learning and graph neural network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20439" y="5230368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575303" y="5285231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HHLN-GNN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92040" y="5230368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46903" y="5285231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Subgraph generation, neighborhood sampling and self-attention improve F1/AUC/GMean on public fraud benchmarks.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69479" y="5230368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324344" y="5285231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Complexity of sampling/attention remains; explainability and real-time banking deployment are not the main focus.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469880" y="5230368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524744" y="5285231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Elliptic; T-Finance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007608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68717A"/>
                </a:solidFill>
                <a:latin typeface="Aptos"/>
              </a:defRPr>
            </a:pPr>
            <a:r>
              <a:t>Limitation wording is used for research-gap synthesis; it does not imply every limitation is a failure claimed by the original authors.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LITERATURE SURVEY — II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17A"/>
                </a:solidFill>
                <a:latin typeface="Aptos"/>
              </a:defRPr>
            </a:pPr>
            <a:r>
              <a:t>12-paper review: model → outcome → limitation →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36192"/>
            <a:ext cx="29718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2880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PAPER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536192"/>
            <a:ext cx="13258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59" y="1600200"/>
            <a:ext cx="123443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1536192"/>
            <a:ext cx="233172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59" y="1600200"/>
            <a:ext cx="22402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KEY OUTCOME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9" y="1536192"/>
            <a:ext cx="315468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9" y="1600200"/>
            <a:ext cx="3063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69880" y="1536192"/>
            <a:ext cx="1600200" cy="34747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1600200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938528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7784" y="1993392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DGA-GNN: Dynamic Grouping Aggregation GNN for Fraud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39" y="1938528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75303" y="1993392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DGA-GNN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938528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46903" y="1993392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Dynamic grouping of attribute ranges and neighbors improves fraud detection by 3–16% over SOTA in experiments.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79" y="1938528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24344" y="199339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Grouping depends on prediction feedback and has limited support for unseen/new nodes and explicit temporal modeling.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69880" y="1938528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24744" y="1993392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Elliptic; T-Finance; T-Social; YelpChi; Amazon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596896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" y="2651760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FraudGT: A Simple, Effective, and Efficient Graph Transformer for Financial Fraud Detection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39" y="2596896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75303" y="2651760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FraudGT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2596896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46903" y="2651760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Edge-gated message passing and edge-attribute attention improve F1 while increasing throughput and lowering latency.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79" y="2596896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24344" y="2651760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Still optimized around graph structure/edge attributes; broad XAI, temporal drift, and cross-institution generalization remain open.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69880" y="2596896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24744" y="2651760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Anti-Money Laundering (HI-small) and large-scale financial graphs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255264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7784" y="3310128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Revisiting Graph-Based Fraud Detection in Sight of Heterophily and Spectrum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39" y="3255264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75303" y="3310128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SEC-GFD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3255264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46903" y="3310128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High-frequency/heterophily-aware modeling improves F1-macro and AUC across YelpChi, Amazon, T-Finance and T-Social.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79" y="3255264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24344" y="3310128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Focuses on structural heterophily/spectrum; operational explainability and temporal transaction streams are not fully addressed.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69880" y="3255264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524744" y="3310128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T-Finance; T-Social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913632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7784" y="3968496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Graph neural network for fraud detection via context encoding and adaptive aggregation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20439" y="3913632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575303" y="3968496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CAFD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92040" y="3913632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946903" y="3968496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Combines temporal-frequency/out-degree context encoding with adaptive aggregation to handle camouflage and imbalance.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9479" y="3913632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24344" y="3968496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Two real-world datasets only; broader cross-domain validation, explainability and production-scale latency need further study.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69880" y="3913632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524744" y="3968496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Two real-world fraud datasets (paper evaluation)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572000"/>
            <a:ext cx="2971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57784" y="4626864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Metapath-guided graph neural networks for financial fraud detection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20439" y="4572000"/>
            <a:ext cx="13258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575303" y="4626864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Metapath-GNN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92040" y="4572000"/>
            <a:ext cx="2331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46903" y="4626864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Uses metapath subgraphs, attention-based sampling and global/local fusion; reports gains on multiple benchmarks.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69479" y="4572000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24344" y="4626864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Predefined metapaths and subgraph generation can add computational cost and design dependence; interpretability is not the main contribution.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69880" y="4572000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524744" y="4626864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YelpChi; Amazon; Elliptic; T-Finance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230368"/>
            <a:ext cx="29718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57784" y="5285231"/>
            <a:ext cx="2862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A novel graph learning framework for interpretable and imbalance financial fraud detection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20439" y="5230368"/>
            <a:ext cx="13258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575303" y="5285231"/>
            <a:ext cx="12161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1">
                <a:solidFill>
                  <a:srgbClr val="111F36"/>
                </a:solidFill>
                <a:latin typeface="Aptos"/>
              </a:defRPr>
            </a:pPr>
            <a:r>
              <a:t>IFDetector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92040" y="5230368"/>
            <a:ext cx="233172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46903" y="5285231"/>
            <a:ext cx="222199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Combines adaptive spectral filtering, structure-aware sampling and contrastive learning with built-in interpretability.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69479" y="5230368"/>
            <a:ext cx="315468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324344" y="5285231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Strong but complex architecture; practical real-time integration, evolving graphs and cross-institution privacy remain open.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469880" y="5230368"/>
            <a:ext cx="1600200" cy="603504"/>
          </a:xfrm>
          <a:prstGeom prst="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524744" y="5285231"/>
            <a:ext cx="14904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30" b="0">
                <a:solidFill>
                  <a:srgbClr val="262F39"/>
                </a:solidFill>
                <a:latin typeface="Aptos"/>
              </a:defRPr>
            </a:pPr>
            <a:r>
              <a:t>Three public financial fraud benchmarks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6007608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68717A"/>
                </a:solidFill>
                <a:latin typeface="Aptos"/>
              </a:defRPr>
            </a:pPr>
            <a:r>
              <a:t>Limitation wording is used for research-gap synthesis; it does not imply every limitation is a failure claimed by the original authors.</a:t>
            </a:r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Research Gaps</a:t>
            </a:r>
          </a:p>
        </p:txBody>
      </p:sp>
      <p:sp>
        <p:nvSpPr>
          <p:cNvPr id="10" name="Oval 9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11556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8717A"/>
                </a:solidFill>
                <a:latin typeface="Aptos"/>
              </a:defRPr>
            </a:pPr>
            <a:r>
              <a:t>Collective limitations are converted into specific research directions.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60020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59" y="176479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177393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17647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Temporal Adaptation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28600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Model evolving transaction behavior rather than relying mainly on static structure.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160020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17720" y="1764792"/>
            <a:ext cx="457200" cy="457200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177393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7647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Imbalance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28600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Protect rare fraud patterns during training and reduce false positives.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160020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12480" y="1764792"/>
            <a:ext cx="457200" cy="457200"/>
          </a:xfrm>
          <a:prstGeom prst="ellipse">
            <a:avLst/>
          </a:prstGeom>
          <a:solidFill>
            <a:srgbClr val="B83535"/>
          </a:solidFill>
          <a:ln>
            <a:solidFill>
              <a:srgbClr val="B8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177393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76479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Neighbor 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28600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Handle noisy, heterophilic and camouflaged neighbors.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47472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59" y="3639312"/>
            <a:ext cx="457200" cy="457200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364845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19" y="363931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16052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Make evidence part of the fraud decision workflow.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347472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17720" y="3639312"/>
            <a:ext cx="457200" cy="457200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364845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63931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16052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Measure and control inference cost for larger graphs.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47888" y="3474720"/>
            <a:ext cx="3456432" cy="1536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412480" y="3639312"/>
            <a:ext cx="457200" cy="457200"/>
          </a:xfrm>
          <a:prstGeom prst="ellipse">
            <a:avLst/>
          </a:prstGeom>
          <a:solidFill>
            <a:srgbClr val="538965"/>
          </a:solidFill>
          <a:ln>
            <a:solidFill>
              <a:srgbClr val="538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12480" y="364845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3639312"/>
            <a:ext cx="2468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Generalization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160520"/>
            <a:ext cx="3063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Validate across complementary datasets and transaction settings.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Innovation • Creativity • Novelty</a:t>
            </a:r>
          </a:p>
        </p:txBody>
      </p:sp>
      <p:sp>
        <p:nvSpPr>
          <p:cNvPr id="11" name="Oval 10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1417320"/>
            <a:ext cx="3456432" cy="2971800"/>
          </a:xfrm>
          <a:prstGeom prst="roundRect">
            <a:avLst/>
          </a:prstGeom>
          <a:solidFill>
            <a:srgbClr val="E8F1F8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7" y="1664208"/>
            <a:ext cx="512064" cy="512064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1673352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167335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E5C91"/>
                </a:solidFill>
                <a:latin typeface="Aptos"/>
              </a:defRPr>
            </a:pPr>
            <a:r>
              <a:t>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242316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Temporal + adaptive graph learning combines evolving behavior with relation-aware aggregation.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1417320"/>
            <a:ext cx="3456432" cy="2971800"/>
          </a:xfrm>
          <a:prstGeom prst="roundRect">
            <a:avLst/>
          </a:prstGeom>
          <a:solidFill>
            <a:srgbClr val="E7F5F3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08576" y="1664208"/>
            <a:ext cx="512064" cy="512064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08576" y="1673352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167335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857E"/>
                </a:solidFill>
                <a:latin typeface="Aptos"/>
              </a:defRPr>
            </a:pPr>
            <a:r>
              <a:t>CREATIVITY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242316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Every alert becomes a risk story: probability + risk tier + influential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1417320"/>
            <a:ext cx="3456432" cy="297180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75904" y="1664208"/>
            <a:ext cx="512064" cy="512064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1673352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1673352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CA9D41"/>
                </a:solidFill>
                <a:latin typeface="Aptos"/>
              </a:defRPr>
            </a:pPr>
            <a:r>
              <a:t>NOVELTY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42316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An integrated TEA-GNN pipeline directly maps G1–G6 to implementable modules and experiments.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983480"/>
            <a:ext cx="10058400" cy="640080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513892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Existing Works  →  Limitations  →  Research Gaps  →  TEA-GNN  →  Evidence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Previous Methodology</a:t>
            </a:r>
          </a:p>
        </p:txBody>
      </p:sp>
      <p:sp>
        <p:nvSpPr>
          <p:cNvPr id="11" name="Oval 10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14300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11F36"/>
                </a:solidFill>
                <a:latin typeface="Aptos"/>
              </a:defRPr>
            </a:pPr>
            <a:r>
              <a:t>Conventional approach: powerful classifiers, but limited relational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89304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9304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TRANSACTION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Rows treated independently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34640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93592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Manual / statistical features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64608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38928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97880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97880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6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RF • XGBoost • CNN/LSTM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68896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43216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02168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02168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2944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6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Binary fraud label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473184" y="2542032"/>
            <a:ext cx="237744" cy="0"/>
          </a:xfrm>
          <a:prstGeom prst="line">
            <a:avLst/>
          </a:prstGeom>
          <a:ln w="25400">
            <a:solidFill>
              <a:srgbClr val="4FA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747504" y="1828800"/>
            <a:ext cx="20299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06456" y="1993392"/>
            <a:ext cx="512064" cy="512064"/>
          </a:xfrm>
          <a:prstGeom prst="ellipse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06456" y="2002536"/>
            <a:ext cx="512064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2651760"/>
            <a:ext cx="18105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83535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84664" y="299923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68717A"/>
                </a:solidFill>
                <a:latin typeface="Aptos"/>
              </a:defRPr>
            </a:pPr>
            <a:r>
              <a:t>Limited 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88620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11F36"/>
                </a:solidFill>
                <a:latin typeface="Aptos"/>
              </a:defRPr>
            </a:pPr>
            <a:r>
              <a:t>Main limitations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Isolated 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Misses coordinated entities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29584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39312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Static behavior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9312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Weak on evolving fraud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45936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55664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Class imbalance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5664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Rare fraud is under-learned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62288" y="4343400"/>
            <a:ext cx="2514600" cy="9601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72015" y="4517136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83535"/>
                </a:solidFill>
                <a:latin typeface="Aptos"/>
              </a:defRPr>
            </a:pPr>
            <a:r>
              <a:t>Black box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72015" y="48463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8717A"/>
                </a:solidFill>
                <a:latin typeface="Aptos"/>
              </a:defRPr>
            </a:pPr>
            <a:r>
              <a:t>Hard to justify alerts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New Methodology — TEA-GNN</a:t>
            </a:r>
          </a:p>
        </p:txBody>
      </p:sp>
      <p:sp>
        <p:nvSpPr>
          <p:cNvPr id="14" name="Oval 13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3232" y="1481328"/>
            <a:ext cx="438912" cy="438912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IEEE-CIS • PaySim • Elliptic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5576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11880" y="1481328"/>
            <a:ext cx="438912" cy="438912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8808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Entities + typed transactions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10528" y="1481328"/>
            <a:ext cx="438912" cy="438912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6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TEMPORAL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Recency • velocity • behavior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62872" y="1325880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409176" y="1481328"/>
            <a:ext cx="438912" cy="438912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09176" y="1490472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3" y="149047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ADAPTIVE GNN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7463" y="203911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Attention + reliable neighbors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13232" y="3447287"/>
            <a:ext cx="438912" cy="438912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IMBALANCE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Weighted / focal learning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65576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611880" y="3447287"/>
            <a:ext cx="438912" cy="438912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11880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8808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XAI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30168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Feature + neighborhood evidence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64224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510528" y="3447287"/>
            <a:ext cx="438912" cy="438912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10528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77456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RISK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Probability → risk tier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62872" y="3291839"/>
            <a:ext cx="25786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409176" y="3447287"/>
            <a:ext cx="438912" cy="438912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09176" y="3456431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76103" y="3456432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1">
                <a:solidFill>
                  <a:srgbClr val="111F36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27463" y="40050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68717A"/>
                </a:solidFill>
                <a:latin typeface="Aptos"/>
              </a:defRPr>
            </a:pPr>
            <a:r>
              <a:t>Alert + explanation + analytics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145536" y="208483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044184" y="208483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942832" y="2084831"/>
            <a:ext cx="256031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145536" y="405079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044184" y="4050791"/>
            <a:ext cx="256032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942832" y="4050791"/>
            <a:ext cx="256031" cy="0"/>
          </a:xfrm>
          <a:prstGeom prst="line">
            <a:avLst/>
          </a:prstGeom>
          <a:ln w="25400">
            <a:solidFill>
              <a:srgbClr val="D3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31520" y="553212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83535"/>
                </a:solidFill>
                <a:latin typeface="Aptos"/>
              </a:defRPr>
            </a:pPr>
            <a:r>
              <a:t>Every module is tied to a research gap and evaluated through ablation experiments.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Complete Project Workflow</a:t>
            </a:r>
          </a:p>
        </p:txBody>
      </p:sp>
      <p:sp>
        <p:nvSpPr>
          <p:cNvPr id="11" name="Oval 10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07007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7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Literature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12 papers → limitations → gaps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063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38727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8727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Collect + audit +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0235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870448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70448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Nodes + typed edges + attributes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34071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02167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02167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799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799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Temporal + behavioral + network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65792" y="132588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533888" y="144475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33888" y="1453896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198424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Baselines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19" y="228600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RF/XGBoost + GCN/GraphSAGE/GAT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207007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07007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TEA-GNN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Train + tune + imbalance handling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7063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538727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38727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360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Generate local fraud evidence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0235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870448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70448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F1 • PR-AUC • AUC • latency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34071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02167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02167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799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799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Baseline vs proposed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65792" y="3200400"/>
            <a:ext cx="2084831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533888" y="3319272"/>
            <a:ext cx="457200" cy="45720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533888" y="3328415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19" y="3858768"/>
            <a:ext cx="18470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1F36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19" y="4160520"/>
            <a:ext cx="18470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19" b="0">
                <a:solidFill>
                  <a:srgbClr val="68717A"/>
                </a:solidFill>
                <a:latin typeface="Aptos"/>
              </a:defRPr>
            </a:pPr>
            <a:r>
              <a:t>Dashboard + report + presentation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97280" y="5303520"/>
            <a:ext cx="9966960" cy="566928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280160" y="5440680"/>
            <a:ext cx="9601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DATA → GRAPH → LEARNING → EXPLANATION → EVALUATION → EVIDENCE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088136" cy="4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65960" y="73152"/>
            <a:ext cx="8915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Expected Outcomes &amp; Impact</a:t>
            </a:r>
          </a:p>
        </p:txBody>
      </p:sp>
      <p:sp>
        <p:nvSpPr>
          <p:cNvPr id="8" name="Oval 7"/>
          <p:cNvSpPr/>
          <p:nvPr/>
        </p:nvSpPr>
        <p:spPr>
          <a:xfrm>
            <a:off x="11201400" y="155448"/>
            <a:ext cx="365760" cy="365760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01400" y="1645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832104"/>
            <a:ext cx="960120" cy="45720"/>
          </a:xfrm>
          <a:prstGeom prst="rect">
            <a:avLst/>
          </a:prstGeom>
          <a:solidFill>
            <a:srgbClr val="19857E"/>
          </a:solidFill>
          <a:ln w="10160"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173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7" y="1600200"/>
            <a:ext cx="475488" cy="475488"/>
          </a:xfrm>
          <a:prstGeom prst="ellipse">
            <a:avLst/>
          </a:prstGeom>
          <a:solidFill>
            <a:srgbClr val="19857E"/>
          </a:solidFill>
          <a:ln>
            <a:solidFill>
              <a:srgbClr val="19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16093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5910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92024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Higher recall/F1 and reduced false-positive burden are the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4173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37376" y="1600200"/>
            <a:ext cx="475488" cy="475488"/>
          </a:xfrm>
          <a:prstGeom prst="ellipse">
            <a:avLst/>
          </a:prstGeom>
          <a:solidFill>
            <a:srgbClr val="1E5C91"/>
          </a:solidFill>
          <a:ln>
            <a:solidFill>
              <a:srgbClr val="1E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16093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15910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92024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Risk score is accompanied by interpretable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0175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1247" y="3200400"/>
            <a:ext cx="475488" cy="475488"/>
          </a:xfrm>
          <a:prstGeom prst="ellipse">
            <a:avLst/>
          </a:prstGeom>
          <a:solidFill>
            <a:srgbClr val="CA9D41"/>
          </a:solidFill>
          <a:ln>
            <a:solidFill>
              <a:srgbClr val="CA9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2095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1912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520439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Efficient neighborhood processing is evaluated through latency.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301752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37376" y="3200400"/>
            <a:ext cx="475488" cy="475488"/>
          </a:xfrm>
          <a:prstGeom prst="ellipse">
            <a:avLst/>
          </a:prstGeom>
          <a:solidFill>
            <a:srgbClr val="4FAEBA"/>
          </a:solidFill>
          <a:ln>
            <a:solidFill>
              <a:srgbClr val="4FA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320954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3191256"/>
            <a:ext cx="3931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3520439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68717A"/>
                </a:solidFill>
                <a:latin typeface="Aptos"/>
              </a:defRPr>
            </a:pPr>
            <a:r>
              <a:t>Public datasets + open-source tools make the prototype practical.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00600"/>
            <a:ext cx="10835640" cy="777240"/>
          </a:xfrm>
          <a:prstGeom prst="roundRect">
            <a:avLst/>
          </a:prstGeom>
          <a:solidFill>
            <a:srgbClr val="111F36"/>
          </a:solidFill>
          <a:ln w="10160"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001768"/>
            <a:ext cx="10378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Existing Works  →  Research Gaps  →  TEA-GNN  →  Comparative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97880"/>
            <a:ext cx="10835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857E"/>
                </a:solidFill>
                <a:latin typeface="Aptos"/>
              </a:defRPr>
            </a:pPr>
            <a:r>
              <a:t>Thank you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3"/>
            <a:ext cx="1082040" cy="46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1318</Words>
  <Application>Microsoft Office PowerPoint</Application>
  <PresentationFormat>Widescreen</PresentationFormat>
  <Paragraphs>285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user</cp:lastModifiedBy>
  <cp:revision>30</cp:revision>
  <dcterms:created xsi:type="dcterms:W3CDTF">2024-08-29T05:25:00Z</dcterms:created>
  <dcterms:modified xsi:type="dcterms:W3CDTF">2026-09-24T09:43:11Z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